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Step 4 Connects to Steps 1-3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822960"/>
          </a:xfrm>
          <a:prstGeom prst="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3864"/>
                </a:solidFill>
                <a:latin typeface="Calibri"/>
              </a:rPr>
              <a:t>These topologies are not a brand-new branch of the project: they are a controlled refactor of the same question. Each one isolates a different bottleneck that earlier steps mixed together.</a:t>
            </a:r>
          </a:p>
        </p:txBody>
      </p:sp>
      <p:pic>
        <p:nvPicPr>
          <p:cNvPr id="6" name="Picture 5" descr="topology 关系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6309360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1828800"/>
            <a:ext cx="42976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000000"/>
                </a:solidFill>
                <a:latin typeface="Calibri"/>
              </a:rPr>
              <a:t>Step 1: one query, one op, one output. Baseline solvability.</a:t>
            </a:r>
          </a:p>
          <a:p>
            <a:pPr/>
            <a:r>
              <a:rPr sz="1500">
                <a:solidFill>
                  <a:srgbClr val="000000"/>
                </a:solidFill>
                <a:latin typeface="Calibri"/>
              </a:rPr>
              <a:t>Step 2: many queries, one op. Plan A / C / D change how queries share time and channels.</a:t>
            </a:r>
          </a:p>
          <a:p>
            <a:pPr/>
            <a:r>
              <a:rPr sz="1500">
                <a:solidFill>
                  <a:srgbClr val="000000"/>
                </a:solidFill>
                <a:latin typeface="Calibri"/>
              </a:rPr>
              <a:t>Step 3: many queries, many ops, many outputs. Mixed-task setting without output compression.</a:t>
            </a:r>
          </a:p>
          <a:p>
            <a:pPr/>
            <a:r>
              <a:rPr sz="1500">
                <a:solidFill>
                  <a:srgbClr val="000000"/>
                </a:solidFill>
                <a:latin typeface="Calibri"/>
              </a:rPr>
              <a:t>Topology 1: removes input collision, keeps multiple outputs.</a:t>
            </a:r>
          </a:p>
          <a:p>
            <a:pPr/>
            <a:r>
              <a:rPr sz="1500">
                <a:solidFill>
                  <a:srgbClr val="000000"/>
                </a:solidFill>
                <a:latin typeface="Calibri"/>
              </a:rPr>
              <a:t>Topology 2: keeps shared-channel input, compresses K answers into one final decision.</a:t>
            </a:r>
          </a:p>
          <a:p>
            <a:pPr/>
            <a:r>
              <a:rPr sz="1500">
                <a:solidFill>
                  <a:srgbClr val="000000"/>
                </a:solidFill>
                <a:latin typeface="Calibri"/>
              </a:rPr>
              <a:t>Topology 3: mixes different ops and also compresses to one final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5257800"/>
            <a:ext cx="4297680" cy="868680"/>
          </a:xfrm>
          <a:prstGeom prst="rect">
            <a:avLst/>
          </a:prstGeom>
          <a:solidFill>
            <a:srgbClr val="E8F0FE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42048" y="5330952"/>
            <a:ext cx="407822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Reading guide: Topology 1 asks whether delays are still needed when the same input is broadcast once. Topology 2 asks what changes when K per-query answers must be fused into one scalar output. Topology 3 stacks both difficulties 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Topology Structures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25880"/>
            <a:ext cx="11338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816352"/>
            <a:ext cx="11338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4315968"/>
            <a:ext cx="11338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T2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628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T3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444752"/>
            <a:ext cx="1828800" cy="59436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One query
(A, 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353312"/>
            <a:ext cx="2057400" cy="804672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Shared hidden SNN
No input collision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25880"/>
            <a:ext cx="1143000" cy="411480"/>
          </a:xfrm>
          <a:prstGeom prst="roundRect">
            <a:avLst/>
          </a:prstGeom>
          <a:solidFill>
            <a:srgbClr val="F8E6D5"/>
          </a:solidFill>
          <a:ln w="19050">
            <a:solidFill>
              <a:srgbClr val="E86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325880"/>
            <a:ext cx="1143000" cy="411480"/>
          </a:xfrm>
          <a:prstGeom prst="roundRect">
            <a:avLst/>
          </a:prstGeom>
          <a:solidFill>
            <a:srgbClr val="F8E6D5"/>
          </a:solidFill>
          <a:ln w="19050">
            <a:solidFill>
              <a:srgbClr val="E86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25880"/>
            <a:ext cx="1143000" cy="411480"/>
          </a:xfrm>
          <a:prstGeom prst="roundRect">
            <a:avLst/>
          </a:prstGeom>
          <a:solidFill>
            <a:srgbClr val="F8E6D5"/>
          </a:solidFill>
          <a:ln w="19050">
            <a:solidFill>
              <a:srgbClr val="E86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NAND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1325880"/>
            <a:ext cx="914400" cy="411480"/>
          </a:xfrm>
          <a:prstGeom prst="roundRect">
            <a:avLst/>
          </a:prstGeom>
          <a:solidFill>
            <a:srgbClr val="F8E6D5"/>
          </a:solidFill>
          <a:ln w="19050">
            <a:solidFill>
              <a:srgbClr val="E86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NOR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3864"/>
                </a:solidFill>
                <a:latin typeface="Calibri"/>
              </a:rPr>
              <a:t>K independent readout heads</a:t>
            </a:r>
          </a:p>
        </p:txBody>
      </p:sp>
      <p:sp>
        <p:nvSpPr>
          <p:cNvPr id="17" name="Chevron 16"/>
          <p:cNvSpPr/>
          <p:nvPr/>
        </p:nvSpPr>
        <p:spPr>
          <a:xfrm>
            <a:off x="2926080" y="1668780"/>
            <a:ext cx="731520" cy="146304"/>
          </a:xfrm>
          <a:prstGeom prst="chevron">
            <a:avLst/>
          </a:prstGeom>
          <a:solidFill>
            <a:srgbClr val="E86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5715000" y="1458468"/>
            <a:ext cx="685800" cy="146304"/>
          </a:xfrm>
          <a:prstGeom prst="chevron">
            <a:avLst/>
          </a:prstGeom>
          <a:solidFill>
            <a:srgbClr val="E86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2916936"/>
            <a:ext cx="1143000" cy="384048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q1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346704"/>
            <a:ext cx="1143000" cy="384048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q2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776472"/>
            <a:ext cx="1143000" cy="384048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172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3864"/>
                </a:solidFill>
                <a:latin typeface="Calibri"/>
              </a:rPr>
              <a:t>Sequential sub-windows on 2 shared channels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852928"/>
            <a:ext cx="2148840" cy="896112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Shared hidden SNN
Delay-based routing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2916936"/>
            <a:ext cx="868680" cy="868680"/>
          </a:xfrm>
          <a:prstGeom prst="ellipse">
            <a:avLst/>
          </a:prstGeom>
          <a:solidFill>
            <a:srgbClr val="E7F4EA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</a:rPr>
              <a:t>1
agg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0815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Calibri"/>
              </a:rPr>
              <a:t>majority or AND over K per-query answers</a:t>
            </a:r>
          </a:p>
        </p:txBody>
      </p:sp>
      <p:sp>
        <p:nvSpPr>
          <p:cNvPr id="26" name="Chevron 25"/>
          <p:cNvSpPr/>
          <p:nvPr/>
        </p:nvSpPr>
        <p:spPr>
          <a:xfrm>
            <a:off x="2331720" y="3227832"/>
            <a:ext cx="2240280" cy="146304"/>
          </a:xfrm>
          <a:prstGeom prst="chevron">
            <a:avLst/>
          </a:prstGeom>
          <a:solidFill>
            <a:srgbClr val="E86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6720840" y="3227832"/>
            <a:ext cx="1920240" cy="146304"/>
          </a:xfrm>
          <a:prstGeom prst="chevron">
            <a:avLst/>
          </a:prstGeom>
          <a:solidFill>
            <a:srgbClr val="E86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97280" y="4407408"/>
            <a:ext cx="1325880" cy="384048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q1 + op1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837176"/>
            <a:ext cx="1325880" cy="384048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q2 + op2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5266944"/>
            <a:ext cx="1325880" cy="384048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q3 + op3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467258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3864"/>
                </a:solidFill>
                <a:latin typeface="Calibri"/>
              </a:rPr>
              <a:t>Shared channels + mixed op identity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343400"/>
            <a:ext cx="2148840" cy="896112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</a:rPr>
              <a:t>Shared hidden SNN
Routing + op separation</a:t>
            </a:r>
          </a:p>
        </p:txBody>
      </p:sp>
      <p:sp>
        <p:nvSpPr>
          <p:cNvPr id="33" name="Oval 32"/>
          <p:cNvSpPr/>
          <p:nvPr/>
        </p:nvSpPr>
        <p:spPr>
          <a:xfrm>
            <a:off x="8641080" y="4416552"/>
            <a:ext cx="868680" cy="868680"/>
          </a:xfrm>
          <a:prstGeom prst="ellipse">
            <a:avLst/>
          </a:prstGeom>
          <a:solidFill>
            <a:srgbClr val="E7F4EA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</a:rPr>
              <a:t>1
agg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4572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Calibri"/>
              </a:rPr>
              <a:t>one final decision after mixed-op processing</a:t>
            </a:r>
          </a:p>
        </p:txBody>
      </p:sp>
      <p:sp>
        <p:nvSpPr>
          <p:cNvPr id="35" name="Chevron 34"/>
          <p:cNvSpPr/>
          <p:nvPr/>
        </p:nvSpPr>
        <p:spPr>
          <a:xfrm>
            <a:off x="2514600" y="4718304"/>
            <a:ext cx="2057400" cy="146304"/>
          </a:xfrm>
          <a:prstGeom prst="chevron">
            <a:avLst/>
          </a:prstGeom>
          <a:solidFill>
            <a:srgbClr val="E86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evron 35"/>
          <p:cNvSpPr/>
          <p:nvPr/>
        </p:nvSpPr>
        <p:spPr>
          <a:xfrm>
            <a:off x="6720840" y="4718304"/>
            <a:ext cx="1920240" cy="146304"/>
          </a:xfrm>
          <a:prstGeom prst="chevron">
            <a:avLst/>
          </a:prstGeom>
          <a:solidFill>
            <a:srgbClr val="E86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solidFill>
            <a:srgbClr val="F9F6EF"/>
          </a:solidFill>
          <a:ln w="19050">
            <a:solidFill>
              <a:srgbClr val="E86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879592"/>
            <a:ext cx="107533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Aggregate output means the network no longer emits K separate answers. Instead, the readout must compress the whole trial into one binary verdict, such as whether the majority of queries are correct-1 or whether all queried NAND results are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