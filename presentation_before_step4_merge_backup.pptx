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72218" autoAdjust="0"/>
  </p:normalViewPr>
  <p:slideViewPr>
    <p:cSldViewPr snapToGrid="0" snapToObjects="1">
      <p:cViewPr varScale="1">
        <p:scale>
          <a:sx n="119" d="100"/>
          <a:sy n="119" d="100"/>
        </p:scale>
        <p:origin x="1656" y="10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EB41C00-CDC2-4D9E-8A1B-17EB1D8C2ED4}" type="datetimeFigureOut">
              <a:rPr lang="zh-CN" altLang="en-US" smtClean="0"/>
              <a:t>2026/5/20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9486D8B-AEC1-4F57-BB71-4BA858A467A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8332624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"Plan A is the most natural multi-query design. I divide the trial into K serial time slots — each slot is thirty-five milliseconds long, consisting of a twenty-millisecond input window, a ten-millisecond readout window, and a five-millisecond gap. Each query gets its own slot, and the readout for each query happens independently within that slot. So the total trial length scales as K times thirty-five.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9486D8B-AEC1-4F57-BB71-4BA858A467A2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7237613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design change is: instead of serial slots, all K queries are injected simultaneously, and I give each query its own dedicated pair of input channels — so the network has two K input neurons. The trial length is fixed at thirty milliseconds regardless of K.</a:t>
            </a:r>
          </a:p>
          <a:p>
            <a:endParaRPr lang="en-US" altLang="zh-CN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Condition B uses trainable weights but fixes all delays to a constant twenty milliseconds — so there is alignment but no adaptive timing.</a:t>
            </a:r>
          </a:p>
          <a:p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Condition C is weights-only with delays fixed to zero — this is the no-delay baseline.</a:t>
            </a:r>
          </a:p>
          <a:p>
            <a:endParaRPr lang="en-US" altLang="zh-CN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A-minus-B column is the capacity effect — what trainable delays add on top of fixed alignment — and it averages just </a:t>
            </a:r>
            <a:r>
              <a:rPr lang="en-US" altLang="zh-CN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plus two-point-seven percent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The ratio is </a:t>
            </a:r>
            <a:r>
              <a:rPr lang="en-US" altLang="zh-CN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4.3 times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alignment is the dominant contribution, four times larger than the capacity gain.</a:t>
            </a:r>
          </a:p>
          <a:p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Now, the reason the capacity effect is small is that Plan C already gives the network an easy way to separate queries — dedicated input channels. Weights alone can learn to route the right channel to the right readout. So trainable delays only need to polish an already-good solution. This motivated Plan D: what happens if I take away those dedicated channels and force the network to rely entirely on timing?"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9486D8B-AEC1-4F57-BB71-4BA858A467A2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6265727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I go back to just two input channels — one for A, one for B — shared across all K queries. Queries are injected sequentially in sub-windows of ten milliseconds each. After all K sub-windows, there is a single shared readout window where the network must output all K answers simultaneously.</a:t>
            </a:r>
          </a:p>
          <a:p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Because with only two shared input channels, the weights cannot distinguish one query from another. The weight from input A to hidden neuron j is a single scalar — it fires identically when A equals one, regardless of whether that happened in sub-window zero, one, or two. </a:t>
            </a:r>
          </a:p>
          <a:p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only thing that </a:t>
            </a:r>
            <a:r>
              <a:rPr lang="en-US" altLang="zh-CN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can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encode which sub-window a spike came from is its </a:t>
            </a:r>
            <a:r>
              <a:rPr lang="en-US" altLang="zh-CN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timing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So delays are not merely helpful in Plan D — they are the only structural mechanism available.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Weights-only with d equals zero is guaranteed to fail before I even run the experiment.</a:t>
            </a:r>
            <a:endParaRPr lang="zh-CN" altLang="en-US" b="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9486D8B-AEC1-4F57-BB71-4BA858A467A2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097999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At h=20, the network gets </a:t>
            </a:r>
            <a:r>
              <a:rPr lang="en-US" altLang="zh-CN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94.9%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at K=1 and </a:t>
            </a:r>
            <a:r>
              <a:rPr lang="en-US" altLang="zh-CN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91.2%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at K=2, just above the ninety percent threshold. K=3 drops to </a:t>
            </a:r>
            <a:r>
              <a:rPr lang="en-US" altLang="zh-CN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83.5%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So Max K at ninety percent is 2 for h=20.</a:t>
            </a:r>
          </a:p>
          <a:p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 test whether this is simply a capacity problem — not enough neurons — I ran the same experiment at h=50, and validated across four seeds. </a:t>
            </a:r>
          </a:p>
          <a:p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crucial observation is that going from h=20 to h=50 only improves K=3 accuracy by about four percentage points — from 83.5 to 87.5. </a:t>
            </a:r>
          </a:p>
          <a:p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This suggests the bottleneck is not in the SNN representation but in the readout The delays are likely creating separable temporal features , it’s just linear readout not fit. The linear layer Linear(h, K) must simultaneously extract K independent binary answers from a shared population of neurons whose membrane potentials carry a mixture of all K query signals, each decayed version of the previous.</a:t>
            </a:r>
          </a:p>
          <a:p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 linear decoder may simply not have enough expressive power to separate those signals. This is exactly the hypothesis I tested next with an MLP readout."</a:t>
            </a:r>
          </a:p>
          <a:p>
            <a:br>
              <a:rPr lang="en-US" altLang="zh-CN" dirty="0"/>
            </a:b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9486D8B-AEC1-4F57-BB71-4BA858A467A2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5461619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 test the hypothesis that the bottleneck is the linear decoder, I replaced it with a two-layer MLP: a linear layer from h to h neurons, then a </a:t>
            </a:r>
            <a:r>
              <a:rPr lang="en-US" altLang="zh-CN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ReLU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nonlinearity, then a linear layer from h to K outputs.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9486D8B-AEC1-4F57-BB71-4BA858A467A2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8620359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is it the delays that matter, or could MLP be powerful enough to succeed on its own, even without delays? To answer this cleanly, I ran a two-by-two ablation.</a:t>
            </a:r>
          </a:p>
          <a:p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two factors are readout type — linear or MLP — and delay configuration — d equals zero or trainable. This gives four conditions.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9486D8B-AEC1-4F57-BB71-4BA858A467A2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3299308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384048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3840480"/>
            <a:ext cx="12188952" cy="30175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3749039"/>
            <a:ext cx="12188952" cy="109728"/>
          </a:xfrm>
          <a:prstGeom prst="rect">
            <a:avLst/>
          </a:prstGeom>
          <a:solidFill>
            <a:srgbClr val="E860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640080"/>
            <a:ext cx="1088136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Calibri"/>
              </a:rPr>
              <a:t>Temporal Multiplexing via
Trainable Synaptic Delays in SNNs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063240"/>
            <a:ext cx="10881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EEF2F7"/>
                </a:solidFill>
                <a:latin typeface="Calibri"/>
              </a:rPr>
              <a:t>Progress Report  ·  Steps 1–2 (Plans A, C, D)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4069080"/>
            <a:ext cx="7315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1F3864"/>
                </a:solidFill>
                <a:latin typeface="Calibri"/>
              </a:rPr>
              <a:t>SNN Async Delays Project  ·  May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0" y="4069080"/>
            <a:ext cx="3657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0" i="0">
                <a:solidFill>
                  <a:srgbClr val="003E74"/>
                </a:solidFill>
                <a:latin typeface="Calibri"/>
              </a:rPr>
              <a:t>Imperial College London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201168"/>
            <a:ext cx="114300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Research Question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1078992"/>
            <a:ext cx="11338560" cy="1234440"/>
          </a:xfrm>
          <a:prstGeom prst="rect">
            <a:avLst/>
          </a:prstGeom>
          <a:solidFill>
            <a:srgbClr val="E8F0FE"/>
          </a:solidFill>
          <a:ln w="19050">
            <a:solidFill>
              <a:srgbClr val="003E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21208" y="1152144"/>
            <a:ext cx="1111910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/>
              <a:t>given a fixed number of hidden neurons,</a:t>
            </a:r>
            <a:r>
              <a:rPr lang="zh-CN" altLang="en-US" dirty="0"/>
              <a:t> </a:t>
            </a:r>
            <a:r>
              <a:rPr lang="en-US" altLang="zh-CN" dirty="0"/>
              <a:t>can trainable synaptic delays allow the network to handle more parallel queries simultaneously, without sacrificing accuracy?</a:t>
            </a:r>
            <a:endParaRPr sz="1700" b="0" i="0" dirty="0">
              <a:solidFill>
                <a:srgbClr val="1F3864"/>
              </a:solidFill>
              <a:latin typeface="Calibri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411480" y="2423160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 dirty="0">
                <a:solidFill>
                  <a:srgbClr val="1F3864"/>
                </a:solidFill>
                <a:latin typeface="Calibri"/>
              </a:rPr>
              <a:t>Primary Metric:  Max K  @ accuracy ≥ 90%   under fixed  h  (neurons)  and  energy budget (spikes/trial)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11480" y="2971800"/>
          <a:ext cx="11338559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346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0078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409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76219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Training Mode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Weights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Delays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Key Property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000000"/>
                          </a:solidFill>
                          <a:latin typeface="Calibri"/>
                        </a:rPr>
                        <a:t>weights_only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000000"/>
                          </a:solidFill>
                          <a:latin typeface="Calibri"/>
                        </a:rPr>
                        <a:t>Trained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000000"/>
                          </a:solidFill>
                          <a:latin typeface="Calibri"/>
                        </a:rPr>
                        <a:t>Fixed at 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000000"/>
                          </a:solidFill>
                          <a:latin typeface="Calibri"/>
                        </a:rPr>
                        <a:t>Baseline — no temporal routing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000000"/>
                          </a:solidFill>
                          <a:latin typeface="Calibri"/>
                        </a:rPr>
                        <a:t>delays_only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000000"/>
                          </a:solidFill>
                          <a:latin typeface="Calibri"/>
                        </a:rPr>
                        <a:t>Frozen (random)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000000"/>
                          </a:solidFill>
                          <a:latin typeface="Calibri"/>
                        </a:rPr>
                        <a:t>Trained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000000"/>
                          </a:solidFill>
                          <a:latin typeface="Calibri"/>
                        </a:rPr>
                        <a:t>Timing only — collapses on hard ops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000000"/>
                          </a:solidFill>
                          <a:latin typeface="Calibri"/>
                        </a:rPr>
                        <a:t>weights_and_delays</a:t>
                      </a:r>
                    </a:p>
                  </a:txBody>
                  <a:tcPr>
                    <a:solidFill>
                      <a:srgbClr val="D6E8D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000000"/>
                          </a:solidFill>
                          <a:latin typeface="Calibri"/>
                        </a:rPr>
                        <a:t>Trained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000000"/>
                          </a:solidFill>
                          <a:latin typeface="Calibri"/>
                        </a:rPr>
                        <a:t>Trained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000000"/>
                          </a:solidFill>
                          <a:latin typeface="Calibri"/>
                        </a:rPr>
                        <a:t>Full model — primary condition</a:t>
                      </a:r>
                    </a:p>
                  </a:txBody>
                  <a:tcPr>
                    <a:solidFill>
                      <a:srgbClr val="D6E8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411480" y="5074920"/>
            <a:ext cx="113385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44444"/>
                </a:solidFill>
                <a:latin typeface="Calibri"/>
              </a:rPr>
              <a:t>Task: 8 Boolean ops (NAND, AND, OR, XOR, …)  |  Network: 2 inputs → h LIF neurons → readout  |  Encoding: rate coding (A=1→400 Hz, A=0→10 Hz, dt=1 ms)  |  Delays: sigmoid-parameterised, learnable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201168"/>
            <a:ext cx="114300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Step 1: Single Boolean Op — Baseline Solvability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1078992"/>
            <a:ext cx="11338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444444"/>
                </a:solidFill>
                <a:latin typeface="Calibri"/>
              </a:rPr>
              <a:t>Config: 8 ops × 3 modes × h ∈ {10, 20, 50}, 200 epochs, seed=42, GPU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11480" y="1572768"/>
          <a:ext cx="7772398" cy="2468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0903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4536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4536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37262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Hidden h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weights_only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delays_only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weights_and_delays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000000"/>
                          </a:solidFill>
                          <a:latin typeface="Calibri"/>
                        </a:rPr>
                        <a:t>h = 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000000"/>
                          </a:solidFill>
                          <a:latin typeface="Calibri"/>
                        </a:rPr>
                        <a:t>0.853</a:t>
                      </a:r>
                    </a:p>
                  </a:txBody>
                  <a:tcPr>
                    <a:solidFill>
                      <a:srgbClr val="FAE8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000000"/>
                          </a:solidFill>
                          <a:latin typeface="Calibri"/>
                        </a:rPr>
                        <a:t>0.706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000000"/>
                          </a:solidFill>
                          <a:latin typeface="Calibri"/>
                        </a:rPr>
                        <a:t>0.924</a:t>
                      </a:r>
                    </a:p>
                  </a:txBody>
                  <a:tcPr>
                    <a:solidFill>
                      <a:srgbClr val="D6E8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000000"/>
                          </a:solidFill>
                          <a:latin typeface="Calibri"/>
                        </a:rPr>
                        <a:t>h = 20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000000"/>
                          </a:solidFill>
                          <a:latin typeface="Calibri"/>
                        </a:rPr>
                        <a:t>0.888</a:t>
                      </a:r>
                    </a:p>
                  </a:txBody>
                  <a:tcPr>
                    <a:solidFill>
                      <a:srgbClr val="FAE8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000000"/>
                          </a:solidFill>
                          <a:latin typeface="Calibri"/>
                        </a:rPr>
                        <a:t>0.753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000000"/>
                          </a:solidFill>
                          <a:latin typeface="Calibri"/>
                        </a:rPr>
                        <a:t>0.962</a:t>
                      </a:r>
                    </a:p>
                  </a:txBody>
                  <a:tcPr>
                    <a:solidFill>
                      <a:srgbClr val="D6E8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000000"/>
                          </a:solidFill>
                          <a:latin typeface="Calibri"/>
                        </a:rPr>
                        <a:t>h = 50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000000"/>
                          </a:solidFill>
                          <a:latin typeface="Calibri"/>
                        </a:rPr>
                        <a:t>0.893</a:t>
                      </a:r>
                    </a:p>
                  </a:txBody>
                  <a:tcPr>
                    <a:solidFill>
                      <a:srgbClr val="FAE8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000000"/>
                          </a:solidFill>
                          <a:latin typeface="Calibri"/>
                        </a:rPr>
                        <a:t>0.753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000000"/>
                          </a:solidFill>
                          <a:latin typeface="Calibri"/>
                        </a:rPr>
                        <a:t>0.974</a:t>
                      </a:r>
                    </a:p>
                  </a:txBody>
                  <a:tcPr>
                    <a:solidFill>
                      <a:srgbClr val="D6E8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000000"/>
                          </a:solidFill>
                          <a:latin typeface="Calibri"/>
                        </a:rPr>
                        <a:t>Mean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000000"/>
                          </a:solidFill>
                          <a:latin typeface="Calibri"/>
                        </a:rPr>
                        <a:t>0.878</a:t>
                      </a:r>
                    </a:p>
                  </a:txBody>
                  <a:tcPr>
                    <a:solidFill>
                      <a:srgbClr val="FAE8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000000"/>
                          </a:solidFill>
                          <a:latin typeface="Calibri"/>
                        </a:rPr>
                        <a:t>0.737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000000"/>
                          </a:solidFill>
                          <a:latin typeface="Calibri"/>
                        </a:rPr>
                        <a:t>0.954</a:t>
                      </a:r>
                    </a:p>
                  </a:txBody>
                  <a:tcPr>
                    <a:solidFill>
                      <a:srgbClr val="D6E8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000000"/>
                          </a:solidFill>
                          <a:latin typeface="Calibri"/>
                        </a:rPr>
                        <a:t>Runs ≥ 95%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000000"/>
                          </a:solidFill>
                          <a:latin typeface="Calibri"/>
                        </a:rPr>
                        <a:t>0 / 24</a:t>
                      </a:r>
                    </a:p>
                  </a:txBody>
                  <a:tcPr>
                    <a:solidFill>
                      <a:srgbClr val="FAE8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000000"/>
                          </a:solidFill>
                          <a:latin typeface="Calibri"/>
                        </a:rPr>
                        <a:t>0 / 24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000000"/>
                          </a:solidFill>
                          <a:latin typeface="Calibri"/>
                        </a:rPr>
                        <a:t>15 / 24</a:t>
                      </a:r>
                    </a:p>
                  </a:txBody>
                  <a:tcPr>
                    <a:solidFill>
                      <a:srgbClr val="D6E8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8321040" y="1572768"/>
            <a:ext cx="3657600" cy="914400"/>
          </a:xfrm>
          <a:prstGeom prst="rect">
            <a:avLst/>
          </a:prstGeom>
          <a:solidFill>
            <a:srgbClr val="FFF3E0"/>
          </a:solidFill>
          <a:ln w="19050">
            <a:solidFill>
              <a:srgbClr val="E860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430768" y="1645920"/>
            <a:ext cx="3438144" cy="7680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F3864"/>
                </a:solidFill>
                <a:latin typeface="Calibri"/>
              </a:rPr>
              <a:t>Energy (h=50):  weights_and_delays  27.7 spk/trial  vs  weights_only  34.1 spk/trial  →  −19%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4160520"/>
            <a:ext cx="113385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dirty="0" err="1">
                <a:solidFill>
                  <a:srgbClr val="000000"/>
                </a:solidFill>
                <a:latin typeface="Calibri"/>
              </a:rPr>
              <a:t>weights_and_delays</a:t>
            </a:r>
            <a:r>
              <a:rPr sz="1500" dirty="0">
                <a:solidFill>
                  <a:srgbClr val="000000"/>
                </a:solidFill>
                <a:latin typeface="Calibri"/>
              </a:rPr>
              <a:t> dominates: +7–8% accuracy at every h</a:t>
            </a:r>
            <a:endParaRPr lang="en-US" sz="1500" dirty="0">
              <a:solidFill>
                <a:srgbClr val="000000"/>
              </a:solidFill>
              <a:latin typeface="Calibri"/>
            </a:endParaRPr>
          </a:p>
          <a:p>
            <a:r>
              <a:rPr lang="en-US" sz="1500" dirty="0" err="1">
                <a:solidFill>
                  <a:srgbClr val="000000"/>
                </a:solidFill>
                <a:latin typeface="Calibri"/>
              </a:rPr>
              <a:t>delays_only</a:t>
            </a:r>
            <a:r>
              <a:rPr lang="en-US" sz="1500" dirty="0">
                <a:solidFill>
                  <a:srgbClr val="000000"/>
                </a:solidFill>
                <a:latin typeface="Calibri"/>
              </a:rPr>
              <a:t> collapses on XOR/XNOR (mean 0.58 ≈ chance)</a:t>
            </a:r>
          </a:p>
          <a:p>
            <a:r>
              <a:rPr sz="1500" dirty="0">
                <a:solidFill>
                  <a:srgbClr val="000000"/>
                </a:solidFill>
                <a:latin typeface="Calibri"/>
              </a:rPr>
              <a:t>NAND selected for Step 2: most stable at 98.9% (h=50)</a:t>
            </a:r>
          </a:p>
          <a:p>
            <a:r>
              <a:rPr sz="1500" dirty="0">
                <a:solidFill>
                  <a:srgbClr val="000000"/>
                </a:solidFill>
                <a:latin typeface="Calibri"/>
              </a:rPr>
              <a:t>Energy bonus: 19% fewer spikes at higher accuracy with delays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201168"/>
            <a:ext cx="114300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Plan A: Serial Time Slots — Discovering the Alignment Mechanism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1078992"/>
            <a:ext cx="11338560" cy="822960"/>
          </a:xfrm>
          <a:prstGeom prst="rect">
            <a:avLst/>
          </a:prstGeom>
          <a:solidFill>
            <a:srgbClr val="EEF2F7"/>
          </a:solidFill>
          <a:ln w="19050">
            <a:solidFill>
              <a:srgbClr val="003E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21208" y="1152144"/>
            <a:ext cx="11119104" cy="676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F3864"/>
                </a:solidFill>
                <a:latin typeface="Calibri"/>
              </a:rPr>
              <a:t>Design:  K queries injected in K serial slots  •  Each slot: input window [0, 20ms) + readout window [20, 30ms) + gap [30, 35ms)  •  Per-slot independent readout  •  T = K × 35ms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11480" y="1993392"/>
          <a:ext cx="6857999" cy="2514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2626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6566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1354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5253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59228"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K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w_and_d acc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weights_only_d0 acc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Gap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9228"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000000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000000"/>
                          </a:solidFill>
                          <a:latin typeface="Calibri"/>
                        </a:rPr>
                        <a:t>95.1%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000000"/>
                          </a:solidFill>
                          <a:latin typeface="Calibri"/>
                        </a:rPr>
                        <a:t>79.7%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000000"/>
                          </a:solidFill>
                          <a:latin typeface="Calibri"/>
                        </a:rPr>
                        <a:t>+15.4%</a:t>
                      </a:r>
                    </a:p>
                  </a:txBody>
                  <a:tcPr>
                    <a:solidFill>
                      <a:srgbClr val="D6E8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9228"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000000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000000"/>
                          </a:solidFill>
                          <a:latin typeface="Calibri"/>
                        </a:rPr>
                        <a:t>95.7%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000000"/>
                          </a:solidFill>
                          <a:latin typeface="Calibri"/>
                        </a:rPr>
                        <a:t>78.4%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000000"/>
                          </a:solidFill>
                          <a:latin typeface="Calibri"/>
                        </a:rPr>
                        <a:t>+17.3%</a:t>
                      </a:r>
                    </a:p>
                  </a:txBody>
                  <a:tcPr>
                    <a:solidFill>
                      <a:srgbClr val="D6E8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9228"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000000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000000"/>
                          </a:solidFill>
                          <a:latin typeface="Calibri"/>
                        </a:rPr>
                        <a:t>97.1%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000000"/>
                          </a:solidFill>
                          <a:latin typeface="Calibri"/>
                        </a:rPr>
                        <a:t>79.6%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000000"/>
                          </a:solidFill>
                          <a:latin typeface="Calibri"/>
                        </a:rPr>
                        <a:t>+17.5%</a:t>
                      </a:r>
                    </a:p>
                  </a:txBody>
                  <a:tcPr>
                    <a:solidFill>
                      <a:srgbClr val="D6E8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59228"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000000"/>
                          </a:solidFill>
                          <a:latin typeface="Calibri"/>
                        </a:rPr>
                        <a:t>8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000000"/>
                          </a:solidFill>
                          <a:latin typeface="Calibri"/>
                        </a:rPr>
                        <a:t>97.1%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000000"/>
                          </a:solidFill>
                          <a:latin typeface="Calibri"/>
                        </a:rPr>
                        <a:t>79.4%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000000"/>
                          </a:solidFill>
                          <a:latin typeface="Calibri"/>
                        </a:rPr>
                        <a:t>+17.7%</a:t>
                      </a:r>
                    </a:p>
                  </a:txBody>
                  <a:tcPr>
                    <a:solidFill>
                      <a:srgbClr val="D6E8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59228"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000000"/>
                          </a:solidFill>
                          <a:latin typeface="Calibri"/>
                        </a:rPr>
                        <a:t>12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000000"/>
                          </a:solidFill>
                          <a:latin typeface="Calibri"/>
                        </a:rPr>
                        <a:t>96.6%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000000"/>
                          </a:solidFill>
                          <a:latin typeface="Calibri"/>
                        </a:rPr>
                        <a:t>80.4%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000000"/>
                          </a:solidFill>
                          <a:latin typeface="Calibri"/>
                        </a:rPr>
                        <a:t>+16.2%</a:t>
                      </a:r>
                    </a:p>
                  </a:txBody>
                  <a:tcPr>
                    <a:solidFill>
                      <a:srgbClr val="D6E8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59232"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000000"/>
                          </a:solidFill>
                          <a:latin typeface="Calibri"/>
                        </a:rPr>
                        <a:t>20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000000"/>
                          </a:solidFill>
                          <a:latin typeface="Calibri"/>
                        </a:rPr>
                        <a:t>97.3%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000000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000000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11480" y="4623857"/>
            <a:ext cx="6858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 dirty="0">
                <a:solidFill>
                  <a:srgbClr val="1F3864"/>
                </a:solidFill>
                <a:latin typeface="Calibri"/>
              </a:rPr>
              <a:t>Max K @ 95%:  </a:t>
            </a:r>
            <a:r>
              <a:rPr sz="1300" b="1" i="0" dirty="0" err="1">
                <a:solidFill>
                  <a:srgbClr val="1F3864"/>
                </a:solidFill>
                <a:latin typeface="Calibri"/>
              </a:rPr>
              <a:t>w_and_d</a:t>
            </a:r>
            <a:r>
              <a:rPr sz="1300" b="1" i="0" dirty="0">
                <a:solidFill>
                  <a:srgbClr val="1F3864"/>
                </a:solidFill>
                <a:latin typeface="Calibri"/>
              </a:rPr>
              <a:t> = ≥20 (no ceiling)  |  </a:t>
            </a:r>
            <a:r>
              <a:rPr sz="1300" b="1" i="0" dirty="0" err="1">
                <a:solidFill>
                  <a:srgbClr val="1F3864"/>
                </a:solidFill>
                <a:latin typeface="Calibri"/>
              </a:rPr>
              <a:t>weights_only</a:t>
            </a:r>
            <a:r>
              <a:rPr sz="1300" b="1" i="0" dirty="0">
                <a:solidFill>
                  <a:srgbClr val="1F3864"/>
                </a:solidFill>
                <a:latin typeface="Calibri"/>
              </a:rPr>
              <a:t> = 0</a:t>
            </a:r>
          </a:p>
        </p:txBody>
      </p:sp>
      <p:sp>
        <p:nvSpPr>
          <p:cNvPr id="8" name="Rectangle 7"/>
          <p:cNvSpPr/>
          <p:nvPr/>
        </p:nvSpPr>
        <p:spPr>
          <a:xfrm>
            <a:off x="7132320" y="1993392"/>
            <a:ext cx="4663440" cy="2514600"/>
          </a:xfrm>
          <a:prstGeom prst="rect">
            <a:avLst/>
          </a:prstGeom>
          <a:solidFill>
            <a:srgbClr val="FFF3E0"/>
          </a:solidFill>
          <a:ln w="19050">
            <a:solidFill>
              <a:srgbClr val="E860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242048" y="2066544"/>
            <a:ext cx="4443984" cy="23682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F3864"/>
                </a:solidFill>
                <a:latin typeface="Calibri"/>
              </a:rPr>
              <a:t>⚠  Mechanism = Time Alignment, not true multiplexing
Weights-only fails because input ends at t=20ms while readout is [20,30ms]:
membrane decays to 13.5% by readout start.  Delays (median ≈9ms) shift
spikes into the readout window.  LIF decay (slot=35ms, τ=10ms) gives
~3% cross-slot residual → natural isolation.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201168"/>
            <a:ext cx="114300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Plan C: Simultaneous Multi-Channel — Alignment vs Capacity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1078992"/>
            <a:ext cx="11338560" cy="685800"/>
          </a:xfrm>
          <a:prstGeom prst="rect">
            <a:avLst/>
          </a:prstGeom>
          <a:solidFill>
            <a:srgbClr val="EEF2F7"/>
          </a:solidFill>
          <a:ln w="19050">
            <a:solidFill>
              <a:srgbClr val="003E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21208" y="1152144"/>
            <a:ext cx="11119104" cy="5394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F3864"/>
                </a:solidFill>
                <a:latin typeface="Calibri"/>
              </a:rPr>
              <a:t>Design:  2K dedicated input channels (A₀,B₀,…,Aₖ₋₁,Bₖ₋₁)  •  All K queries injected simultaneously  •  Fixed T=30ms  •  Single shared readout window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11480" y="1828800"/>
          <a:ext cx="9326875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323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3890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3890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3890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73890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73890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K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w_and_d (A)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w_only_d20 (B)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w_only_d0 (C)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A−B (capacity)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B−C (alignment)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000000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000000"/>
                          </a:solidFill>
                          <a:latin typeface="Calibri"/>
                        </a:rPr>
                        <a:t>97.3%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000000"/>
                          </a:solidFill>
                          <a:latin typeface="Calibri"/>
                        </a:rPr>
                        <a:t>95.7%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000000"/>
                          </a:solidFill>
                          <a:latin typeface="Calibri"/>
                        </a:rPr>
                        <a:t>80.1%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000000"/>
                          </a:solidFill>
                          <a:latin typeface="Calibri"/>
                        </a:rPr>
                        <a:t>+1.6%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000000"/>
                          </a:solidFill>
                          <a:latin typeface="Calibri"/>
                        </a:rPr>
                        <a:t>+15.6%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000000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000000"/>
                          </a:solidFill>
                          <a:latin typeface="Calibri"/>
                        </a:rPr>
                        <a:t>95.2%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000000"/>
                          </a:solidFill>
                          <a:latin typeface="Calibri"/>
                        </a:rPr>
                        <a:t>92.9%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000000"/>
                          </a:solidFill>
                          <a:latin typeface="Calibri"/>
                        </a:rPr>
                        <a:t>77.4%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000000"/>
                          </a:solidFill>
                          <a:latin typeface="Calibri"/>
                        </a:rPr>
                        <a:t>+2.3%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000000"/>
                          </a:solidFill>
                          <a:latin typeface="Calibri"/>
                        </a:rPr>
                        <a:t>+15.5%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000000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000000"/>
                          </a:solidFill>
                          <a:latin typeface="Calibri"/>
                        </a:rPr>
                        <a:t>93.2%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000000"/>
                          </a:solidFill>
                          <a:latin typeface="Calibri"/>
                        </a:rPr>
                        <a:t>89.4%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000000"/>
                          </a:solidFill>
                          <a:latin typeface="Calibri"/>
                        </a:rPr>
                        <a:t>77.0%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000000"/>
                          </a:solidFill>
                          <a:latin typeface="Calibri"/>
                        </a:rPr>
                        <a:t>+3.7%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000000"/>
                          </a:solidFill>
                          <a:latin typeface="Calibri"/>
                        </a:rPr>
                        <a:t>+12.4%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000000"/>
                          </a:solidFill>
                          <a:latin typeface="Calibri"/>
                        </a:rPr>
                        <a:t>6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000000"/>
                          </a:solidFill>
                          <a:latin typeface="Calibri"/>
                        </a:rPr>
                        <a:t>89.9%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000000"/>
                          </a:solidFill>
                          <a:latin typeface="Calibri"/>
                        </a:rPr>
                        <a:t>86.6%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000000"/>
                          </a:solidFill>
                          <a:latin typeface="Calibri"/>
                        </a:rPr>
                        <a:t>76.9%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000000"/>
                          </a:solidFill>
                          <a:latin typeface="Calibri"/>
                        </a:rPr>
                        <a:t>+3.3%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000000"/>
                          </a:solidFill>
                          <a:latin typeface="Calibri"/>
                        </a:rPr>
                        <a:t>+9.7%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000000"/>
                          </a:solidFill>
                          <a:latin typeface="Calibri"/>
                        </a:rPr>
                        <a:t>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000000"/>
                          </a:solidFill>
                          <a:latin typeface="Calibri"/>
                        </a:rPr>
                        <a:t>88.6%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000000"/>
                          </a:solidFill>
                          <a:latin typeface="Calibri"/>
                        </a:rPr>
                        <a:t>86.5%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000000"/>
                          </a:solidFill>
                          <a:latin typeface="Calibri"/>
                        </a:rPr>
                        <a:t>76.0%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000000"/>
                          </a:solidFill>
                          <a:latin typeface="Calibri"/>
                        </a:rPr>
                        <a:t>+2.2%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000000"/>
                          </a:solidFill>
                          <a:latin typeface="Calibri"/>
                        </a:rPr>
                        <a:t>+10.5%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000000"/>
                          </a:solidFill>
                          <a:latin typeface="Calibri"/>
                        </a:rPr>
                        <a:t>12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000000"/>
                          </a:solidFill>
                          <a:latin typeface="Calibri"/>
                        </a:rPr>
                        <a:t>86.6%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000000"/>
                          </a:solidFill>
                          <a:latin typeface="Calibri"/>
                        </a:rPr>
                        <a:t>85.5%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000000"/>
                          </a:solidFill>
                          <a:latin typeface="Calibri"/>
                        </a:rPr>
                        <a:t>75.9%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000000"/>
                          </a:solidFill>
                          <a:latin typeface="Calibri"/>
                        </a:rPr>
                        <a:t>+1.1%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000000"/>
                          </a:solidFill>
                          <a:latin typeface="Calibri"/>
                        </a:rPr>
                        <a:t>+9.6%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000000"/>
                          </a:solidFill>
                          <a:latin typeface="Calibri"/>
                        </a:rPr>
                        <a:t>Mean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000000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000000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000000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000000"/>
                          </a:solidFill>
                          <a:latin typeface="Calibri"/>
                        </a:rPr>
                        <a:t>+2.7%</a:t>
                      </a:r>
                    </a:p>
                  </a:txBody>
                  <a:tcPr>
                    <a:solidFill>
                      <a:srgbClr val="FAE8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000000"/>
                          </a:solidFill>
                          <a:latin typeface="Calibri"/>
                        </a:rPr>
                        <a:t>+11.8%</a:t>
                      </a:r>
                    </a:p>
                  </a:txBody>
                  <a:tcPr>
                    <a:solidFill>
                      <a:srgbClr val="D6E8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411480" y="4846320"/>
            <a:ext cx="5943600" cy="914400"/>
          </a:xfrm>
          <a:prstGeom prst="rect">
            <a:avLst/>
          </a:prstGeom>
          <a:solidFill>
            <a:srgbClr val="D6E8D6"/>
          </a:solidFill>
          <a:ln w="19050">
            <a:solidFill>
              <a:srgbClr val="1A7A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21208" y="4919472"/>
            <a:ext cx="5724144" cy="7680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F3864"/>
                </a:solidFill>
                <a:latin typeface="Calibri"/>
              </a:rPr>
              <a:t>Alignment effect  B−C  =  +11.8%  (4.3× larger)
Capacity effect   A−B  =  +2.7%
Max K@90%:  w_and_d=5,  d=20=3,  d=0=0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17920" y="4846320"/>
            <a:ext cx="5577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F3864"/>
                </a:solidFill>
                <a:latin typeface="Calibri"/>
              </a:rPr>
              <a:t>Conclusion: Delays' primary value is temporal alignment (+11.8%).
Capacity gain (+2.7%) is real but small — 2K spatial channels already separate queries.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201168"/>
            <a:ext cx="114300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Plan D: Shared-Channel Sequential Injection — The Critical Test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1078992"/>
            <a:ext cx="11338560" cy="731520"/>
          </a:xfrm>
          <a:prstGeom prst="rect">
            <a:avLst/>
          </a:prstGeom>
          <a:solidFill>
            <a:srgbClr val="E8F0FE"/>
          </a:solidFill>
          <a:ln w="19050">
            <a:solidFill>
              <a:srgbClr val="003E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21208" y="1152144"/>
            <a:ext cx="11119104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F3864"/>
                </a:solidFill>
                <a:latin typeface="Calibri"/>
              </a:rPr>
              <a:t>Motivation: Plan C's capacity effect (+2.7%) is small because 2K spatial channels let weights do query separation.  Plan D forces time-only separation.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11480" y="1874519"/>
          <a:ext cx="7772398" cy="2392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7303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6645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6645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6645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Design Element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Plan A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Plan C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Plan D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000000"/>
                          </a:solidFill>
                          <a:latin typeface="Calibri"/>
                        </a:rPr>
                        <a:t>Input channels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000000"/>
                          </a:solidFill>
                          <a:latin typeface="Calibri"/>
                        </a:rPr>
                        <a:t>2 shared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000000"/>
                          </a:solidFill>
                          <a:latin typeface="Calibri"/>
                        </a:rPr>
                        <a:t>2K dedicated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000000"/>
                          </a:solidFill>
                          <a:latin typeface="Calibri"/>
                        </a:rPr>
                        <a:t>2 shared</a:t>
                      </a:r>
                    </a:p>
                  </a:txBody>
                  <a:tcPr>
                    <a:solidFill>
                      <a:srgbClr val="FFF3E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000000"/>
                          </a:solidFill>
                          <a:latin typeface="Calibri"/>
                        </a:rPr>
                        <a:t>Query injection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000000"/>
                          </a:solidFill>
                          <a:latin typeface="Calibri"/>
                        </a:rPr>
                        <a:t>Serial slots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000000"/>
                          </a:solidFill>
                          <a:latin typeface="Calibri"/>
                        </a:rPr>
                        <a:t>Simultaneous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000000"/>
                          </a:solidFill>
                          <a:latin typeface="Calibri"/>
                        </a:rPr>
                        <a:t>Serial sub-windows</a:t>
                      </a:r>
                    </a:p>
                  </a:txBody>
                  <a:tcPr>
                    <a:solidFill>
                      <a:srgbClr val="FFF3E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000000"/>
                          </a:solidFill>
                          <a:latin typeface="Calibri"/>
                        </a:rPr>
                        <a:t>Readout windows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000000"/>
                          </a:solidFill>
                          <a:latin typeface="Calibri"/>
                        </a:rPr>
                        <a:t>K per-slot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000000"/>
                          </a:solidFill>
                          <a:latin typeface="Calibri"/>
                        </a:rPr>
                        <a:t>1 shared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000000"/>
                          </a:solidFill>
                          <a:latin typeface="Calibri"/>
                        </a:rPr>
                        <a:t>1 shared (all K)</a:t>
                      </a:r>
                    </a:p>
                  </a:txBody>
                  <a:tcPr>
                    <a:solidFill>
                      <a:srgbClr val="FFF3E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000000"/>
                          </a:solidFill>
                          <a:latin typeface="Calibri"/>
                        </a:rPr>
                        <a:t>Trial length T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000000"/>
                          </a:solidFill>
                          <a:latin typeface="Calibri"/>
                        </a:rPr>
                        <a:t>K × 35ms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000000"/>
                          </a:solidFill>
                          <a:latin typeface="Calibri"/>
                        </a:rPr>
                        <a:t>30ms fixed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000000"/>
                          </a:solidFill>
                          <a:latin typeface="Calibri"/>
                        </a:rPr>
                        <a:t>K × 10ms + 10ms</a:t>
                      </a:r>
                    </a:p>
                  </a:txBody>
                  <a:tcPr>
                    <a:solidFill>
                      <a:srgbClr val="FFF3E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000000"/>
                          </a:solidFill>
                          <a:latin typeface="Calibri"/>
                        </a:rPr>
                        <a:t>d=0 can separate?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000000"/>
                          </a:solidFill>
                          <a:latin typeface="Calibri"/>
                        </a:rPr>
                        <a:t>✓ (alignment)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000000"/>
                          </a:solidFill>
                          <a:latin typeface="Calibri"/>
                        </a:rPr>
                        <a:t>✓ (spatial)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000000"/>
                          </a:solidFill>
                          <a:latin typeface="Calibri"/>
                        </a:rPr>
                        <a:t>✗ (structurally impossible)</a:t>
                      </a:r>
                    </a:p>
                  </a:txBody>
                  <a:tcPr>
                    <a:solidFill>
                      <a:srgbClr val="FAE8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8229600" y="1874519"/>
            <a:ext cx="3657600" cy="2286000"/>
          </a:xfrm>
          <a:prstGeom prst="rect">
            <a:avLst/>
          </a:prstGeom>
          <a:solidFill>
            <a:srgbClr val="FAE8E8"/>
          </a:solidFill>
          <a:ln w="19050">
            <a:solidFill>
              <a:srgbClr val="C014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339328" y="1947671"/>
            <a:ext cx="3438144" cy="21396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F3864"/>
                </a:solidFill>
                <a:latin typeface="Calibri"/>
              </a:rPr>
              <a:t>Why d=0 structurally fails in Plan D:
  •  Weight w₊ⱼ cannot distinguish t=0 from t=10 — same weight fires identically for every query
  •  Only delay d₊ⱼ routes query k's spikes to distinct readout timing
  •  LIF residual: e⁻¹⁰ᵀ¹⁰ = 37% cross-slot membrane leakage
  •  sub_win=10ms, τₘₑₘ=10ms chosen to demonstrate delay routing under realistic constraints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4251960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F3864"/>
                </a:solidFill>
                <a:latin typeface="Calibri"/>
              </a:rPr>
              <a:t>Timeline (K=3 example):  [q₀: 0–10ms] [q₁: 10–20ms] [q₂: 20–30ms] | readout [30–40ms]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4754880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444444"/>
                </a:solidFill>
                <a:latin typeface="Calibri"/>
              </a:rPr>
              <a:t>Single shared readout Linear(h, K) decodes all 3 answers simultaneously from the same hidden population.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201168"/>
            <a:ext cx="114300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Plan D: Linear Readout Results — Max K@90% = 2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11480" y="1078992"/>
          <a:ext cx="822960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15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00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K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h=20 acc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h=50 acc (mean±std, 4 seeds)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≥90%? (h=50)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000000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000000"/>
                          </a:solidFill>
                          <a:latin typeface="Calibri"/>
                        </a:rPr>
                        <a:t>94.9%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000000"/>
                          </a:solidFill>
                          <a:latin typeface="Calibri"/>
                        </a:rPr>
                        <a:t>95.05 ± 0.21%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000000"/>
                          </a:solidFill>
                          <a:latin typeface="Calibri"/>
                        </a:rPr>
                        <a:t>✓  (4/4)</a:t>
                      </a:r>
                    </a:p>
                  </a:txBody>
                  <a:tcPr>
                    <a:solidFill>
                      <a:srgbClr val="D6E8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000000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000000"/>
                          </a:solidFill>
                          <a:latin typeface="Calibri"/>
                        </a:rPr>
                        <a:t>91.2%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000000"/>
                          </a:solidFill>
                          <a:latin typeface="Calibri"/>
                        </a:rPr>
                        <a:t>92.20 ± 0.75%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000000"/>
                          </a:solidFill>
                          <a:latin typeface="Calibri"/>
                        </a:rPr>
                        <a:t>✓  (4/4)</a:t>
                      </a:r>
                    </a:p>
                  </a:txBody>
                  <a:tcPr>
                    <a:solidFill>
                      <a:srgbClr val="D6E8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000000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000000"/>
                          </a:solidFill>
                          <a:latin typeface="Calibri"/>
                        </a:rPr>
                        <a:t>83.5%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000000"/>
                          </a:solidFill>
                          <a:latin typeface="Calibri"/>
                        </a:rPr>
                        <a:t>87.52 ± 1.04%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000000"/>
                          </a:solidFill>
                          <a:latin typeface="Calibri"/>
                        </a:rPr>
                        <a:t>✗  (0/4)</a:t>
                      </a:r>
                    </a:p>
                  </a:txBody>
                  <a:tcPr>
                    <a:solidFill>
                      <a:srgbClr val="FAE8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000000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000000"/>
                          </a:solidFill>
                          <a:latin typeface="Calibri"/>
                        </a:rPr>
                        <a:t>82.9%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000000"/>
                          </a:solidFill>
                          <a:latin typeface="Calibri"/>
                        </a:rPr>
                        <a:t>~86%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000000"/>
                          </a:solidFill>
                          <a:latin typeface="Calibri"/>
                        </a:rPr>
                        <a:t>✗</a:t>
                      </a:r>
                    </a:p>
                  </a:txBody>
                  <a:tcPr>
                    <a:solidFill>
                      <a:srgbClr val="FAE8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000000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000000"/>
                          </a:solidFill>
                          <a:latin typeface="Calibri"/>
                        </a:rPr>
                        <a:t>80.9%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000000"/>
                          </a:solidFill>
                          <a:latin typeface="Calibri"/>
                        </a:rPr>
                        <a:t>~83%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000000"/>
                          </a:solidFill>
                          <a:latin typeface="Calibri"/>
                        </a:rPr>
                        <a:t>✗</a:t>
                      </a:r>
                    </a:p>
                  </a:txBody>
                  <a:tcPr>
                    <a:solidFill>
                      <a:srgbClr val="FAE8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11480" y="3429000"/>
            <a:ext cx="8229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444444"/>
                </a:solidFill>
                <a:latin typeface="Calibri"/>
              </a:rPr>
              <a:t>d=0 baseline (all K): ~76–80%  |  Delay advantage at K=2: +16.2pp</a:t>
            </a:r>
          </a:p>
        </p:txBody>
      </p:sp>
      <p:sp>
        <p:nvSpPr>
          <p:cNvPr id="6" name="Rectangle 5"/>
          <p:cNvSpPr/>
          <p:nvPr/>
        </p:nvSpPr>
        <p:spPr>
          <a:xfrm>
            <a:off x="8503920" y="1078992"/>
            <a:ext cx="3383280" cy="2834640"/>
          </a:xfrm>
          <a:prstGeom prst="rect">
            <a:avLst/>
          </a:prstGeom>
          <a:solidFill>
            <a:srgbClr val="FFF3E0"/>
          </a:solidFill>
          <a:ln w="19050">
            <a:solidFill>
              <a:srgbClr val="E860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613648" y="1152144"/>
            <a:ext cx="3163824" cy="24929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 dirty="0">
                <a:solidFill>
                  <a:srgbClr val="1F3864"/>
                </a:solidFill>
                <a:latin typeface="Calibri"/>
              </a:rPr>
              <a:t>Bottleneck Diagnosis
h=20 → h=50 (+150% neurons): accuracy improves only +1–4%
If neuron count were the bottleneck, we’d expect larger gains.
True bottleneck: shared single readout  Linear(h, K)  must</a:t>
            </a:r>
            <a:r>
              <a:rPr lang="en-US" sz="1300" b="0" i="0" dirty="0">
                <a:solidFill>
                  <a:srgbClr val="1F3864"/>
                </a:solidFill>
                <a:latin typeface="Calibri"/>
              </a:rPr>
              <a:t> </a:t>
            </a:r>
            <a:r>
              <a:rPr sz="1300" b="0" i="0" dirty="0">
                <a:solidFill>
                  <a:srgbClr val="1F3864"/>
                </a:solidFill>
                <a:latin typeface="Calibri"/>
              </a:rPr>
              <a:t>simultaneously decode K mixed membrane-potential signals</a:t>
            </a:r>
            <a:r>
              <a:rPr lang="en-US" sz="1300" b="0" i="0" dirty="0">
                <a:solidFill>
                  <a:srgbClr val="1F3864"/>
                </a:solidFill>
                <a:latin typeface="Calibri"/>
              </a:rPr>
              <a:t> </a:t>
            </a:r>
            <a:r>
              <a:rPr sz="1300" b="0" i="0" dirty="0">
                <a:solidFill>
                  <a:srgbClr val="1F3864"/>
                </a:solidFill>
                <a:latin typeface="Calibri"/>
              </a:rPr>
              <a:t>where each query’s residual ≥37% leaks into the next slot.</a:t>
            </a:r>
          </a:p>
        </p:txBody>
      </p:sp>
      <p:sp>
        <p:nvSpPr>
          <p:cNvPr id="8" name="Rectangle 7"/>
          <p:cNvSpPr/>
          <p:nvPr/>
        </p:nvSpPr>
        <p:spPr>
          <a:xfrm>
            <a:off x="411480" y="3931920"/>
            <a:ext cx="8229600" cy="777240"/>
          </a:xfrm>
          <a:prstGeom prst="rect">
            <a:avLst/>
          </a:prstGeom>
          <a:solidFill>
            <a:srgbClr val="EEF2F7"/>
          </a:solidFill>
          <a:ln w="19050">
            <a:solidFill>
              <a:srgbClr val="003E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21208" y="4005072"/>
            <a:ext cx="8010144" cy="6309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F3864"/>
                </a:solidFill>
                <a:latin typeface="Calibri"/>
              </a:rPr>
              <a:t>Multi-seed stability (h=50):  K=2 std=0.75%,  K=3 std=1.04%  —  result is reproducible (4 seeds: 0, 1, 2, 42).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4800600"/>
            <a:ext cx="11338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F3864"/>
                </a:solidFill>
                <a:latin typeface="Calibri"/>
              </a:rPr>
              <a:t>►  Conclusion: Max K @ 90% = 2  with linear readout, regardless of h.  The bottleneck is the decoder, not the SNN.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201168"/>
            <a:ext cx="114300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Plan D + MLP Readout — Advancing Max K@90% to 3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11480" y="1078992"/>
          <a:ext cx="5943598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719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3691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3691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7565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3691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91885"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K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Linear readout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MLP readout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Δ (MLP−Lin)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MLP ≥90%?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1885"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000000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000000"/>
                          </a:solidFill>
                          <a:latin typeface="Calibri"/>
                        </a:rPr>
                        <a:t>95.05%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000000"/>
                          </a:solidFill>
                          <a:latin typeface="Calibri"/>
                        </a:rPr>
                        <a:t>95.95%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000000"/>
                          </a:solidFill>
                          <a:latin typeface="Calibri"/>
                        </a:rPr>
                        <a:t>+0.9%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000000"/>
                          </a:solidFill>
                          <a:latin typeface="Calibri"/>
                        </a:rPr>
                        <a:t>✓</a:t>
                      </a:r>
                    </a:p>
                  </a:txBody>
                  <a:tcPr>
                    <a:solidFill>
                      <a:srgbClr val="D6E8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1885"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000000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000000"/>
                          </a:solidFill>
                          <a:latin typeface="Calibri"/>
                        </a:rPr>
                        <a:t>92.20%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000000"/>
                          </a:solidFill>
                          <a:latin typeface="Calibri"/>
                        </a:rPr>
                        <a:t>93.50%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000000"/>
                          </a:solidFill>
                          <a:latin typeface="Calibri"/>
                        </a:rPr>
                        <a:t>+1.3%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000000"/>
                          </a:solidFill>
                          <a:latin typeface="Calibri"/>
                        </a:rPr>
                        <a:t>✓</a:t>
                      </a:r>
                    </a:p>
                  </a:txBody>
                  <a:tcPr>
                    <a:solidFill>
                      <a:srgbClr val="D6E8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1885"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000000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000000"/>
                          </a:solidFill>
                          <a:latin typeface="Calibri"/>
                        </a:rPr>
                        <a:t>87.52%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000000"/>
                          </a:solidFill>
                          <a:latin typeface="Calibri"/>
                        </a:rPr>
                        <a:t>92.68%</a:t>
                      </a:r>
                    </a:p>
                  </a:txBody>
                  <a:tcPr>
                    <a:solidFill>
                      <a:srgbClr val="D6E8D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000000"/>
                          </a:solidFill>
                          <a:latin typeface="Calibri"/>
                        </a:rPr>
                        <a:t>+5.2%</a:t>
                      </a:r>
                    </a:p>
                  </a:txBody>
                  <a:tcPr>
                    <a:solidFill>
                      <a:srgbClr val="D6E8D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000000"/>
                          </a:solidFill>
                          <a:latin typeface="Calibri"/>
                        </a:rPr>
                        <a:t>✓</a:t>
                      </a:r>
                    </a:p>
                  </a:txBody>
                  <a:tcPr>
                    <a:solidFill>
                      <a:srgbClr val="D6E8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91885"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000000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000000"/>
                          </a:solidFill>
                          <a:latin typeface="Calibri"/>
                        </a:rPr>
                        <a:t>~86%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000000"/>
                          </a:solidFill>
                          <a:latin typeface="Calibri"/>
                        </a:rPr>
                        <a:t>89.85%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000000"/>
                          </a:solidFill>
                          <a:latin typeface="Calibri"/>
                        </a:rPr>
                        <a:t>+3.9%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000000"/>
                          </a:solidFill>
                          <a:latin typeface="Calibri"/>
                        </a:rPr>
                        <a:t>✗  (0.15% short)</a:t>
                      </a:r>
                    </a:p>
                  </a:txBody>
                  <a:tcPr>
                    <a:solidFill>
                      <a:srgbClr val="FAE8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91885"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000000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000000"/>
                          </a:solidFill>
                          <a:latin typeface="Calibri"/>
                        </a:rPr>
                        <a:t>~83%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000000"/>
                          </a:solidFill>
                          <a:latin typeface="Calibri"/>
                        </a:rPr>
                        <a:t>86.29%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000000"/>
                          </a:solidFill>
                          <a:latin typeface="Calibri"/>
                        </a:rPr>
                        <a:t>+3.3%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000000"/>
                          </a:solidFill>
                          <a:latin typeface="Calibri"/>
                        </a:rPr>
                        <a:t>✗</a:t>
                      </a:r>
                    </a:p>
                  </a:txBody>
                  <a:tcPr>
                    <a:solidFill>
                      <a:srgbClr val="FAE8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91890"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000000"/>
                          </a:solidFill>
                          <a:latin typeface="Calibri"/>
                        </a:rPr>
                        <a:t>6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000000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000000"/>
                          </a:solidFill>
                          <a:latin typeface="Calibri"/>
                        </a:rPr>
                        <a:t>83.84%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000000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000000"/>
                          </a:solidFill>
                          <a:latin typeface="Calibri"/>
                        </a:rPr>
                        <a:t>✗</a:t>
                      </a:r>
                    </a:p>
                  </a:txBody>
                  <a:tcPr>
                    <a:solidFill>
                      <a:srgbClr val="FAE8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11480" y="3858768"/>
            <a:ext cx="5943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44444"/>
                </a:solidFill>
                <a:latin typeface="Calibri"/>
              </a:rPr>
              <a:t>MLP: Linear(h,h) → ReLU → Linear(h,K)  |  h=50, seeds 42+0  |  Max K@90%: 2 → 3</a:t>
            </a:r>
          </a:p>
        </p:txBody>
      </p:sp>
      <p:pic>
        <p:nvPicPr>
          <p:cNvPr id="6" name="Picture 5" descr="tmp_chart_k_ac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3640" y="1078992"/>
            <a:ext cx="5577840" cy="347472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411480" y="4343400"/>
            <a:ext cx="5943600" cy="1051560"/>
          </a:xfrm>
          <a:prstGeom prst="rect">
            <a:avLst/>
          </a:prstGeom>
          <a:solidFill>
            <a:srgbClr val="D6E8D6"/>
          </a:solidFill>
          <a:ln w="19050">
            <a:solidFill>
              <a:srgbClr val="1A7A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21208" y="4416552"/>
            <a:ext cx="5724144" cy="9052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F3864"/>
                </a:solidFill>
                <a:latin typeface="Calibri"/>
              </a:rPr>
              <a:t>MLP decoder unlocks K=3 by learning non-linear decision boundaries over
the delay-structured hidden representations.  K=4 is only 0.15% short —
suggesting the ceiling may be soft.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201168"/>
            <a:ext cx="114300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Causal Ablation: Delays Are Necessary — MLP Alone Is Not Enough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11480" y="1078992"/>
          <a:ext cx="8686796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6342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330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6342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6342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66342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Calibri"/>
                        </a:rPr>
                        <a:t>Readout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Calibri"/>
                        </a:rPr>
                        <a:t>Delay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Calibri"/>
                        </a:rPr>
                        <a:t>K=2 acc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Calibri"/>
                        </a:rPr>
                        <a:t>K=3 acc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Calibri"/>
                        </a:rPr>
                        <a:t>Max K@90%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1500">
                          <a:solidFill>
                            <a:srgbClr val="000000"/>
                          </a:solidFill>
                          <a:latin typeface="Calibri"/>
                        </a:rPr>
                        <a:t>Linear</a:t>
                      </a:r>
                    </a:p>
                  </a:txBody>
                  <a:tcPr>
                    <a:solidFill>
                      <a:srgbClr val="FAE8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>
                          <a:solidFill>
                            <a:srgbClr val="000000"/>
                          </a:solidFill>
                          <a:latin typeface="Calibri"/>
                        </a:rPr>
                        <a:t>d = 0 (frozen)</a:t>
                      </a:r>
                    </a:p>
                  </a:txBody>
                  <a:tcPr>
                    <a:solidFill>
                      <a:srgbClr val="FAE8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>
                          <a:solidFill>
                            <a:srgbClr val="000000"/>
                          </a:solidFill>
                          <a:latin typeface="Calibri"/>
                        </a:rPr>
                        <a:t>~76%</a:t>
                      </a:r>
                    </a:p>
                  </a:txBody>
                  <a:tcPr>
                    <a:solidFill>
                      <a:srgbClr val="FAE8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>
                          <a:solidFill>
                            <a:srgbClr val="000000"/>
                          </a:solidFill>
                          <a:latin typeface="Calibri"/>
                        </a:rPr>
                        <a:t>~76%</a:t>
                      </a:r>
                    </a:p>
                  </a:txBody>
                  <a:tcPr>
                    <a:solidFill>
                      <a:srgbClr val="FAE8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>
                          <a:solidFill>
                            <a:srgbClr val="000000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AE8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1500">
                          <a:solidFill>
                            <a:srgbClr val="000000"/>
                          </a:solidFill>
                          <a:latin typeface="Calibri"/>
                        </a:rPr>
                        <a:t>Linear</a:t>
                      </a:r>
                    </a:p>
                  </a:txBody>
                  <a:tcPr>
                    <a:solidFill>
                      <a:srgbClr val="D6E8D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>
                          <a:solidFill>
                            <a:srgbClr val="000000"/>
                          </a:solidFill>
                          <a:latin typeface="Calibri"/>
                        </a:rPr>
                        <a:t>Trainable</a:t>
                      </a:r>
                    </a:p>
                  </a:txBody>
                  <a:tcPr>
                    <a:solidFill>
                      <a:srgbClr val="D6E8D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>
                          <a:solidFill>
                            <a:srgbClr val="000000"/>
                          </a:solidFill>
                          <a:latin typeface="Calibri"/>
                        </a:rPr>
                        <a:t>92.20%</a:t>
                      </a:r>
                    </a:p>
                  </a:txBody>
                  <a:tcPr>
                    <a:solidFill>
                      <a:srgbClr val="D6E8D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>
                          <a:solidFill>
                            <a:srgbClr val="000000"/>
                          </a:solidFill>
                          <a:latin typeface="Calibri"/>
                        </a:rPr>
                        <a:t>87.52%</a:t>
                      </a:r>
                    </a:p>
                  </a:txBody>
                  <a:tcPr>
                    <a:solidFill>
                      <a:srgbClr val="D6E8D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>
                          <a:solidFill>
                            <a:srgbClr val="000000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>
                    <a:solidFill>
                      <a:srgbClr val="D6E8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1500">
                          <a:solidFill>
                            <a:srgbClr val="000000"/>
                          </a:solidFill>
                          <a:latin typeface="Calibri"/>
                        </a:rPr>
                        <a:t>MLP</a:t>
                      </a:r>
                    </a:p>
                  </a:txBody>
                  <a:tcPr>
                    <a:solidFill>
                      <a:srgbClr val="FAE8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>
                          <a:solidFill>
                            <a:srgbClr val="000000"/>
                          </a:solidFill>
                          <a:latin typeface="Calibri"/>
                        </a:rPr>
                        <a:t>d = 0 (frozen)</a:t>
                      </a:r>
                    </a:p>
                  </a:txBody>
                  <a:tcPr>
                    <a:solidFill>
                      <a:srgbClr val="FAE8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>
                          <a:solidFill>
                            <a:srgbClr val="000000"/>
                          </a:solidFill>
                          <a:latin typeface="Calibri"/>
                        </a:rPr>
                        <a:t>78.15%</a:t>
                      </a:r>
                    </a:p>
                  </a:txBody>
                  <a:tcPr>
                    <a:solidFill>
                      <a:srgbClr val="FAE8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>
                          <a:solidFill>
                            <a:srgbClr val="000000"/>
                          </a:solidFill>
                          <a:latin typeface="Calibri"/>
                        </a:rPr>
                        <a:t>~77%</a:t>
                      </a:r>
                    </a:p>
                  </a:txBody>
                  <a:tcPr>
                    <a:solidFill>
                      <a:srgbClr val="FAE8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>
                          <a:solidFill>
                            <a:srgbClr val="000000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AE8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1500">
                          <a:solidFill>
                            <a:srgbClr val="000000"/>
                          </a:solidFill>
                          <a:latin typeface="Calibri"/>
                        </a:rPr>
                        <a:t>MLP</a:t>
                      </a:r>
                    </a:p>
                  </a:txBody>
                  <a:tcPr>
                    <a:solidFill>
                      <a:srgbClr val="D6E8D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>
                          <a:solidFill>
                            <a:srgbClr val="000000"/>
                          </a:solidFill>
                          <a:latin typeface="Calibri"/>
                        </a:rPr>
                        <a:t>Trainable</a:t>
                      </a:r>
                    </a:p>
                  </a:txBody>
                  <a:tcPr>
                    <a:solidFill>
                      <a:srgbClr val="D6E8D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>
                          <a:solidFill>
                            <a:srgbClr val="000000"/>
                          </a:solidFill>
                          <a:latin typeface="Calibri"/>
                        </a:rPr>
                        <a:t>93.50%</a:t>
                      </a:r>
                    </a:p>
                  </a:txBody>
                  <a:tcPr>
                    <a:solidFill>
                      <a:srgbClr val="D6E8D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>
                          <a:solidFill>
                            <a:srgbClr val="000000"/>
                          </a:solidFill>
                          <a:latin typeface="Calibri"/>
                        </a:rPr>
                        <a:t>92.68%</a:t>
                      </a:r>
                    </a:p>
                  </a:txBody>
                  <a:tcPr>
                    <a:solidFill>
                      <a:srgbClr val="90CC9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>
                          <a:solidFill>
                            <a:srgbClr val="000000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>
                    <a:solidFill>
                      <a:srgbClr val="90CC9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11480" y="3401568"/>
            <a:ext cx="86868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>
                <a:solidFill>
                  <a:srgbClr val="000000"/>
                </a:solidFill>
                <a:latin typeface="Calibri"/>
              </a:rPr>
              <a:t>•  MLP + d=0 ≈ Linear + d=0 ≈ 77%  —  MLP adds nothing without delays</a:t>
            </a:r>
          </a:p>
          <a:p>
            <a:r>
              <a:rPr sz="1500">
                <a:solidFill>
                  <a:srgbClr val="000000"/>
                </a:solidFill>
                <a:latin typeface="Calibri"/>
              </a:rPr>
              <a:t>•  Delays + Linear: +16.2pp at K=3 vs d=0  —  delays create the representations</a:t>
            </a:r>
          </a:p>
          <a:p>
            <a:r>
              <a:rPr sz="1500">
                <a:solidFill>
                  <a:srgbClr val="000000"/>
                </a:solidFill>
                <a:latin typeface="Calibri"/>
              </a:rPr>
              <a:t>•  Delays + MLP:    +5.2pp on top of delays  —  MLP is a better decoder of delay representations</a:t>
            </a:r>
          </a:p>
          <a:p>
            <a:r>
              <a:rPr sz="1500">
                <a:solidFill>
                  <a:srgbClr val="000000"/>
                </a:solidFill>
                <a:latin typeface="Calibri"/>
              </a:rPr>
              <a:t>→  The failure at d=0 is representational, not a decoder limitation.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5029200"/>
            <a:ext cx="11338560" cy="822960"/>
          </a:xfrm>
          <a:prstGeom prst="rect">
            <a:avLst/>
          </a:prstGeom>
          <a:solidFill>
            <a:srgbClr val="E8F0FE"/>
          </a:solidFill>
          <a:ln w="19050">
            <a:solidFill>
              <a:srgbClr val="003E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21208" y="5102352"/>
            <a:ext cx="11119104" cy="676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F3864"/>
                </a:solidFill>
                <a:latin typeface="Calibri"/>
              </a:rPr>
              <a:t>Trainable delays are the sole structurally necessary mechanism.
d=0 fails regardless of readout type.  MLP adds decoder precision on top of delay representations.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201168"/>
            <a:ext cx="114300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Mechanism Summary: What Delays Actually Do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11480" y="1078992"/>
          <a:ext cx="11338558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0114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234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0229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4465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06698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914400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Plan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Design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Delays’ Role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Effect Size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Key Data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14400"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000000"/>
                          </a:solidFill>
                          <a:latin typeface="Calibri"/>
                        </a:rPr>
                        <a:t>A
(serial slots)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000000"/>
                          </a:solidFill>
                          <a:latin typeface="Calibri"/>
                        </a:rPr>
                        <a:t>2 shared ch.
K × 35ms
per-slot readout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000000"/>
                          </a:solidFill>
                          <a:latin typeface="Calibri"/>
                        </a:rPr>
                        <a:t>Time alignment
(shift spikes into
readout window)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000000"/>
                          </a:solidFill>
                          <a:latin typeface="Calibri"/>
                        </a:rPr>
                        <a:t>+15–18%
vs d=0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000000"/>
                          </a:solidFill>
                          <a:latin typeface="Calibri"/>
                        </a:rPr>
                        <a:t>Max K@95% ≥20
(no ceiling found)
d=0: K=0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14400"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000000"/>
                          </a:solidFill>
                          <a:latin typeface="Calibri"/>
                        </a:rPr>
                        <a:t>C
(simultaneous)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000000"/>
                          </a:solidFill>
                          <a:latin typeface="Calibri"/>
                        </a:rPr>
                        <a:t>2K channels
T=30ms fixed
1 shared readout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000000"/>
                          </a:solidFill>
                          <a:latin typeface="Calibri"/>
                        </a:rPr>
                        <a:t>Alignment (primary)
+ micro-capacity
(secondary)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000000"/>
                          </a:solidFill>
                          <a:latin typeface="Calibri"/>
                        </a:rPr>
                        <a:t>Align: +11.8%
Capacity: +2.7%
Ratio: 4.3×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000000"/>
                          </a:solidFill>
                          <a:latin typeface="Calibri"/>
                        </a:rPr>
                        <a:t>Max K@90%:
w&amp;d=5, d20=3
d0=0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14400"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000000"/>
                          </a:solidFill>
                          <a:latin typeface="Calibri"/>
                        </a:rPr>
                        <a:t>D
(sequential)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000000"/>
                          </a:solidFill>
                          <a:latin typeface="Calibri"/>
                        </a:rPr>
                        <a:t>2 shared ch.
K×10ms slots
1 shared readout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000000"/>
                          </a:solidFill>
                          <a:latin typeface="Calibri"/>
                        </a:rPr>
                        <a:t>Structurally
necessary routing
(d=0 cannot work)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000000"/>
                          </a:solidFill>
                          <a:latin typeface="Calibri"/>
                        </a:rPr>
                        <a:t>+16%
vs d=0 at K=2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000000"/>
                          </a:solidFill>
                          <a:latin typeface="Calibri"/>
                        </a:rPr>
                        <a:t>Linear: K=2 @ 92.2%
MLP: K=3 @ 92.7%
d=0: ~77% (any readout)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" name="Rectangle 4"/>
          <p:cNvSpPr/>
          <p:nvPr/>
        </p:nvSpPr>
        <p:spPr>
          <a:xfrm>
            <a:off x="411480" y="4800600"/>
            <a:ext cx="11338560" cy="960120"/>
          </a:xfrm>
          <a:prstGeom prst="rect">
            <a:avLst/>
          </a:prstGeom>
          <a:solidFill>
            <a:srgbClr val="EEF2F7"/>
          </a:solidFill>
          <a:ln w="19050">
            <a:solidFill>
              <a:srgbClr val="003E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21208" y="4873752"/>
            <a:ext cx="11119104" cy="8138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F3864"/>
                </a:solidFill>
                <a:latin typeface="Calibri"/>
              </a:rPr>
              <a:t>The three plans are consistent: delays provide time alignment (+11–19%) as the primary benefit.  True routing capacity (Plan D) is real but bounded by the shared readout bottleneck.  Increasing h does not fix this — a non-linear decoder (MLP) is needed.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201168"/>
            <a:ext cx="114300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Conclusions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1078992"/>
            <a:ext cx="11338560" cy="1325880"/>
          </a:xfrm>
          <a:prstGeom prst="rect">
            <a:avLst/>
          </a:prstGeom>
          <a:solidFill>
            <a:srgbClr val="E8F0FE"/>
          </a:solidFill>
          <a:ln w="19050">
            <a:solidFill>
              <a:srgbClr val="003E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21208" y="1152144"/>
            <a:ext cx="11119104" cy="11795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F3864"/>
                </a:solidFill>
                <a:latin typeface="Calibri"/>
              </a:rPr>
              <a:t>▶  1.  Trainable delays are structurally necessary for shared-channel temporal routing
    d=0 fails at K≥2 regardless of readout type (Linear or MLP): both ≤77% at K=3.
This is a representational failure, not a decoder failure.  Ablation is clean and causal.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2514600"/>
            <a:ext cx="11338560" cy="1325880"/>
          </a:xfrm>
          <a:prstGeom prst="rect">
            <a:avLst/>
          </a:prstGeom>
          <a:solidFill>
            <a:srgbClr val="FFF3E0"/>
          </a:solidFill>
          <a:ln w="19050">
            <a:solidFill>
              <a:srgbClr val="E860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21208" y="2587752"/>
            <a:ext cx="11119104" cy="11795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F3864"/>
                </a:solidFill>
                <a:latin typeface="Calibri"/>
              </a:rPr>
              <a:t>▶  2.  The dominant contribution of delays is time alignment, not multiplexing capacity
    Alignment effect (+11.8–19%, Plans A/C/D) is 4.3× larger than the capacity effect (+2.7%, Plan C).
True temporal multiplexing requires careful design (Plan D) to isolate and measure.</a:t>
            </a:r>
          </a:p>
        </p:txBody>
      </p:sp>
      <p:sp>
        <p:nvSpPr>
          <p:cNvPr id="8" name="Rectangle 7"/>
          <p:cNvSpPr/>
          <p:nvPr/>
        </p:nvSpPr>
        <p:spPr>
          <a:xfrm>
            <a:off x="411480" y="3950208"/>
            <a:ext cx="11338560" cy="1325880"/>
          </a:xfrm>
          <a:prstGeom prst="rect">
            <a:avLst/>
          </a:prstGeom>
          <a:solidFill>
            <a:srgbClr val="D6E8D6"/>
          </a:solidFill>
          <a:ln w="19050">
            <a:solidFill>
              <a:srgbClr val="1A7A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21208" y="4023360"/>
            <a:ext cx="11119104" cy="11795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F3864"/>
                </a:solidFill>
                <a:latin typeface="Calibri"/>
              </a:rPr>
              <a:t>▶  3.  Delays create temporally structured representations exceeding linear decodability
    Max K@90%: d=0 → 0,  delays+Linear → 2,  delays+MLP → 3  (h=50, multi-seed validated).
MLP adds +5.2% on delay representations; adds nothing without delays.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5486400"/>
            <a:ext cx="11338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F3864"/>
                </a:solidFill>
                <a:latin typeface="Calibri"/>
              </a:rPr>
              <a:t>Energy bonus: weights_and_delays achieves higher accuracy with ~19% fewer spikes vs weights_only  (27.7 vs 34.1 spk/trial at h=50)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2042</TotalTime>
  <Words>2848</Words>
  <Application>Microsoft Office PowerPoint</Application>
  <PresentationFormat>自定义</PresentationFormat>
  <Paragraphs>319</Paragraphs>
  <Slides>11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11</vt:i4>
      </vt:variant>
    </vt:vector>
  </HeadingPairs>
  <TitlesOfParts>
    <vt:vector size="15" baseType="lpstr">
      <vt:lpstr>等线</vt:lpstr>
      <vt:lpstr>Arial</vt:lpstr>
      <vt:lpstr>Calibri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Xu, KUNPENG</cp:lastModifiedBy>
  <cp:revision>7</cp:revision>
  <dcterms:created xsi:type="dcterms:W3CDTF">2013-01-27T09:14:16Z</dcterms:created>
  <dcterms:modified xsi:type="dcterms:W3CDTF">2026-05-20T12:02:45Z</dcterms:modified>
  <cp:category/>
</cp:coreProperties>
</file>